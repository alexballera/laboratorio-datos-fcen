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Ubuntu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Ubuntu-bold.fntdata"/><Relationship Id="rId16" Type="http://schemas.openxmlformats.org/officeDocument/2006/relationships/font" Target="fonts/Ubuntu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Ubuntu-boldItalic.fntdata"/><Relationship Id="rId6" Type="http://schemas.openxmlformats.org/officeDocument/2006/relationships/slide" Target="slides/slide1.xml"/><Relationship Id="rId18" Type="http://schemas.openxmlformats.org/officeDocument/2006/relationships/font" Target="fonts/Ubuntu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40cbb93be0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40cbb93be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40cbb93be0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40cbb93be0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40cbb93be0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40cbb93be0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4427be9baf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4427be9baf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4476a5b85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4476a5b85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4476a5b858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4476a5b85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4476a5b858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4476a5b85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41b578fafe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41b578faf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41b578fafe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41b578fafe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4.png"/><Relationship Id="rId5" Type="http://schemas.openxmlformats.org/officeDocument/2006/relationships/image" Target="../media/image2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5" Type="http://schemas.openxmlformats.org/officeDocument/2006/relationships/image" Target="../media/image5.png"/><Relationship Id="rId6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8.png"/><Relationship Id="rId5" Type="http://schemas.openxmlformats.org/officeDocument/2006/relationships/image" Target="../media/image14.png"/><Relationship Id="rId6" Type="http://schemas.openxmlformats.org/officeDocument/2006/relationships/image" Target="../media/image6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19.png"/><Relationship Id="rId7" Type="http://schemas.openxmlformats.org/officeDocument/2006/relationships/image" Target="../media/image9.png"/><Relationship Id="rId8" Type="http://schemas.openxmlformats.org/officeDocument/2006/relationships/image" Target="../media/image3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1.png"/><Relationship Id="rId4" Type="http://schemas.openxmlformats.org/officeDocument/2006/relationships/image" Target="../media/image20.png"/><Relationship Id="rId5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Relationship Id="rId4" Type="http://schemas.openxmlformats.org/officeDocument/2006/relationships/image" Target="../media/image28.png"/><Relationship Id="rId5" Type="http://schemas.openxmlformats.org/officeDocument/2006/relationships/image" Target="../media/image3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Relationship Id="rId4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6.png"/><Relationship Id="rId4" Type="http://schemas.openxmlformats.org/officeDocument/2006/relationships/image" Target="../media/image35.png"/><Relationship Id="rId5" Type="http://schemas.openxmlformats.org/officeDocument/2006/relationships/image" Target="../media/image26.png"/><Relationship Id="rId6" Type="http://schemas.openxmlformats.org/officeDocument/2006/relationships/image" Target="../media/image2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5.png"/><Relationship Id="rId4" Type="http://schemas.openxmlformats.org/officeDocument/2006/relationships/image" Target="../media/image30.png"/><Relationship Id="rId5" Type="http://schemas.openxmlformats.org/officeDocument/2006/relationships/image" Target="../media/image34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42925" y="2367450"/>
            <a:ext cx="26766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2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Fig. 1:</a:t>
            </a:r>
            <a:r>
              <a:rPr lang="es-419" sz="12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 Distribución de </a:t>
            </a:r>
            <a:r>
              <a:rPr lang="es-419" sz="12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píxeles</a:t>
            </a:r>
            <a:endParaRPr sz="12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grpSp>
        <p:nvGrpSpPr>
          <p:cNvPr id="55" name="Google Shape;55;p13"/>
          <p:cNvGrpSpPr/>
          <p:nvPr/>
        </p:nvGrpSpPr>
        <p:grpSpPr>
          <a:xfrm>
            <a:off x="3233700" y="1256325"/>
            <a:ext cx="2971800" cy="2391075"/>
            <a:chOff x="3233700" y="1256325"/>
            <a:chExt cx="2971800" cy="2391075"/>
          </a:xfrm>
        </p:grpSpPr>
        <p:pic>
          <p:nvPicPr>
            <p:cNvPr id="56" name="Google Shape;56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33700" y="1256325"/>
              <a:ext cx="2971800" cy="21240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" name="Google Shape;57;p13"/>
            <p:cNvSpPr txBox="1"/>
            <p:nvPr/>
          </p:nvSpPr>
          <p:spPr>
            <a:xfrm>
              <a:off x="3233700" y="3304200"/>
              <a:ext cx="2419500" cy="34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000">
                  <a:solidFill>
                    <a:schemeClr val="dk2"/>
                  </a:solidFill>
                  <a:latin typeface="Ubuntu"/>
                  <a:ea typeface="Ubuntu"/>
                  <a:cs typeface="Ubuntu"/>
                  <a:sym typeface="Ubuntu"/>
                </a:rPr>
                <a:t>Fig 2:</a:t>
              </a:r>
              <a:r>
                <a:rPr lang="es-419" sz="1000">
                  <a:solidFill>
                    <a:schemeClr val="dk2"/>
                  </a:solidFill>
                  <a:latin typeface="Ubuntu"/>
                  <a:ea typeface="Ubuntu"/>
                  <a:cs typeface="Ubuntu"/>
                  <a:sym typeface="Ubuntu"/>
                </a:rPr>
                <a:t> Análisis descriptivo de DF “X”</a:t>
              </a:r>
              <a:endParaRPr sz="10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endParaRPr>
            </a:p>
          </p:txBody>
        </p:sp>
      </p:grpSp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0"/>
            <a:ext cx="2633700" cy="2464967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/>
          <p:nvPr/>
        </p:nvSpPr>
        <p:spPr>
          <a:xfrm>
            <a:off x="852525" y="4672825"/>
            <a:ext cx="18216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Fig 3:</a:t>
            </a:r>
            <a:r>
              <a:rPr lang="es-419"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 Análisis descriptivo de </a:t>
            </a:r>
            <a:r>
              <a:rPr lang="es-419"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dígitos</a:t>
            </a:r>
            <a:endParaRPr sz="8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60" name="Google Shape;60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4375" y="2865600"/>
            <a:ext cx="2633700" cy="19151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14"/>
          <p:cNvGrpSpPr/>
          <p:nvPr/>
        </p:nvGrpSpPr>
        <p:grpSpPr>
          <a:xfrm>
            <a:off x="72200" y="0"/>
            <a:ext cx="3657600" cy="2922625"/>
            <a:chOff x="72200" y="0"/>
            <a:chExt cx="3657600" cy="2922625"/>
          </a:xfrm>
        </p:grpSpPr>
        <p:sp>
          <p:nvSpPr>
            <p:cNvPr id="66" name="Google Shape;66;p14"/>
            <p:cNvSpPr txBox="1"/>
            <p:nvPr/>
          </p:nvSpPr>
          <p:spPr>
            <a:xfrm>
              <a:off x="981650" y="2514025"/>
              <a:ext cx="2315400" cy="40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900">
                  <a:solidFill>
                    <a:schemeClr val="dk2"/>
                  </a:solidFill>
                  <a:latin typeface="Ubuntu"/>
                  <a:ea typeface="Ubuntu"/>
                  <a:cs typeface="Ubuntu"/>
                  <a:sym typeface="Ubuntu"/>
                </a:rPr>
                <a:t>Figura 4:</a:t>
              </a:r>
              <a:r>
                <a:rPr lang="es-419" sz="900">
                  <a:solidFill>
                    <a:schemeClr val="dk2"/>
                  </a:solidFill>
                  <a:latin typeface="Ubuntu"/>
                  <a:ea typeface="Ubuntu"/>
                  <a:cs typeface="Ubuntu"/>
                  <a:sym typeface="Ubuntu"/>
                </a:rPr>
                <a:t> Cantidad de tuplas por dígitos</a:t>
              </a:r>
              <a:endParaRPr sz="9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endParaRPr>
            </a:p>
          </p:txBody>
        </p:sp>
        <p:pic>
          <p:nvPicPr>
            <p:cNvPr id="67" name="Google Shape;67;p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2200" y="0"/>
              <a:ext cx="3657600" cy="26098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8" name="Google Shape;68;p14"/>
          <p:cNvGrpSpPr/>
          <p:nvPr/>
        </p:nvGrpSpPr>
        <p:grpSpPr>
          <a:xfrm>
            <a:off x="3729800" y="88725"/>
            <a:ext cx="3160299" cy="910450"/>
            <a:chOff x="3729800" y="88725"/>
            <a:chExt cx="3160299" cy="910450"/>
          </a:xfrm>
        </p:grpSpPr>
        <p:sp>
          <p:nvSpPr>
            <p:cNvPr id="69" name="Google Shape;69;p14"/>
            <p:cNvSpPr txBox="1"/>
            <p:nvPr/>
          </p:nvSpPr>
          <p:spPr>
            <a:xfrm>
              <a:off x="3729850" y="686875"/>
              <a:ext cx="3160200" cy="31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000">
                  <a:solidFill>
                    <a:schemeClr val="dk2"/>
                  </a:solidFill>
                  <a:latin typeface="Ubuntu"/>
                  <a:ea typeface="Ubuntu"/>
                  <a:cs typeface="Ubuntu"/>
                  <a:sym typeface="Ubuntu"/>
                </a:rPr>
                <a:t>Figura 7:</a:t>
              </a:r>
              <a:r>
                <a:rPr lang="es-419" sz="1000">
                  <a:solidFill>
                    <a:schemeClr val="dk2"/>
                  </a:solidFill>
                  <a:latin typeface="Ubuntu"/>
                  <a:ea typeface="Ubuntu"/>
                  <a:cs typeface="Ubuntu"/>
                  <a:sym typeface="Ubuntu"/>
                </a:rPr>
                <a:t> Análisis descriptivo, cero y uno</a:t>
              </a:r>
              <a:endParaRPr sz="10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endParaRPr>
            </a:p>
          </p:txBody>
        </p:sp>
        <p:pic>
          <p:nvPicPr>
            <p:cNvPr id="70" name="Google Shape;70;p1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729800" y="88725"/>
              <a:ext cx="3160299" cy="5981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1" name="Google Shape;71;p14"/>
          <p:cNvGrpSpPr/>
          <p:nvPr/>
        </p:nvGrpSpPr>
        <p:grpSpPr>
          <a:xfrm>
            <a:off x="3729850" y="999175"/>
            <a:ext cx="2714555" cy="2143225"/>
            <a:chOff x="3729850" y="999175"/>
            <a:chExt cx="2714555" cy="2143225"/>
          </a:xfrm>
        </p:grpSpPr>
        <p:sp>
          <p:nvSpPr>
            <p:cNvPr id="72" name="Google Shape;72;p14"/>
            <p:cNvSpPr txBox="1"/>
            <p:nvPr/>
          </p:nvSpPr>
          <p:spPr>
            <a:xfrm>
              <a:off x="4328875" y="2830100"/>
              <a:ext cx="1516500" cy="31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800">
                  <a:solidFill>
                    <a:schemeClr val="dk2"/>
                  </a:solidFill>
                  <a:latin typeface="Ubuntu"/>
                  <a:ea typeface="Ubuntu"/>
                  <a:cs typeface="Ubuntu"/>
                  <a:sym typeface="Ubuntu"/>
                </a:rPr>
                <a:t>Fig 13:</a:t>
              </a:r>
              <a:r>
                <a:rPr lang="es-419" sz="800">
                  <a:solidFill>
                    <a:schemeClr val="dk2"/>
                  </a:solidFill>
                  <a:latin typeface="Ubuntu"/>
                  <a:ea typeface="Ubuntu"/>
                  <a:cs typeface="Ubuntu"/>
                  <a:sym typeface="Ubuntu"/>
                </a:rPr>
                <a:t> Balance ceros y uno</a:t>
              </a:r>
              <a:endParaRPr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endParaRPr>
            </a:p>
          </p:txBody>
        </p:sp>
        <p:pic>
          <p:nvPicPr>
            <p:cNvPr id="73" name="Google Shape;73;p1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729850" y="999175"/>
              <a:ext cx="2714555" cy="19345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4" name="Google Shape;74;p14"/>
          <p:cNvGrpSpPr/>
          <p:nvPr/>
        </p:nvGrpSpPr>
        <p:grpSpPr>
          <a:xfrm>
            <a:off x="6730050" y="999175"/>
            <a:ext cx="1999933" cy="2077850"/>
            <a:chOff x="6730050" y="999175"/>
            <a:chExt cx="1999933" cy="2077850"/>
          </a:xfrm>
        </p:grpSpPr>
        <p:pic>
          <p:nvPicPr>
            <p:cNvPr id="75" name="Google Shape;75;p1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730050" y="999175"/>
              <a:ext cx="1999933" cy="19345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" name="Google Shape;76;p14"/>
            <p:cNvSpPr txBox="1"/>
            <p:nvPr/>
          </p:nvSpPr>
          <p:spPr>
            <a:xfrm>
              <a:off x="6860313" y="2764725"/>
              <a:ext cx="1739400" cy="31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800">
                  <a:solidFill>
                    <a:schemeClr val="dk2"/>
                  </a:solidFill>
                  <a:latin typeface="Ubuntu"/>
                  <a:ea typeface="Ubuntu"/>
                  <a:cs typeface="Ubuntu"/>
                  <a:sym typeface="Ubuntu"/>
                </a:rPr>
                <a:t>Fig. 14:</a:t>
              </a:r>
              <a:r>
                <a:rPr lang="es-419" sz="800">
                  <a:solidFill>
                    <a:schemeClr val="dk2"/>
                  </a:solidFill>
                  <a:latin typeface="Ubuntu"/>
                  <a:ea typeface="Ubuntu"/>
                  <a:cs typeface="Ubuntu"/>
                  <a:sym typeface="Ubuntu"/>
                </a:rPr>
                <a:t> Proporción ceros y uno</a:t>
              </a:r>
              <a:endParaRPr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15"/>
          <p:cNvGrpSpPr/>
          <p:nvPr/>
        </p:nvGrpSpPr>
        <p:grpSpPr>
          <a:xfrm>
            <a:off x="2702550" y="152400"/>
            <a:ext cx="1937151" cy="2187200"/>
            <a:chOff x="2702550" y="152400"/>
            <a:chExt cx="1937151" cy="2187200"/>
          </a:xfrm>
        </p:grpSpPr>
        <p:pic>
          <p:nvPicPr>
            <p:cNvPr id="82" name="Google Shape;82;p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2550" y="152400"/>
              <a:ext cx="1937151" cy="20643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" name="Google Shape;83;p15"/>
            <p:cNvSpPr txBox="1"/>
            <p:nvPr/>
          </p:nvSpPr>
          <p:spPr>
            <a:xfrm>
              <a:off x="2889925" y="2027300"/>
              <a:ext cx="1562400" cy="31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800">
                  <a:solidFill>
                    <a:schemeClr val="dk2"/>
                  </a:solidFill>
                  <a:latin typeface="Ubuntu"/>
                  <a:ea typeface="Ubuntu"/>
                  <a:cs typeface="Ubuntu"/>
                  <a:sym typeface="Ubuntu"/>
                </a:rPr>
                <a:t>Fig 15:</a:t>
              </a:r>
              <a:r>
                <a:rPr lang="es-419" sz="800">
                  <a:solidFill>
                    <a:schemeClr val="dk2"/>
                  </a:solidFill>
                  <a:latin typeface="Ubuntu"/>
                  <a:ea typeface="Ubuntu"/>
                  <a:cs typeface="Ubuntu"/>
                  <a:sym typeface="Ubuntu"/>
                </a:rPr>
                <a:t> X Subsets Train &amp; Test</a:t>
              </a:r>
              <a:endParaRPr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endParaRPr>
            </a:p>
          </p:txBody>
        </p:sp>
      </p:grpSp>
      <p:grpSp>
        <p:nvGrpSpPr>
          <p:cNvPr id="84" name="Google Shape;84;p15"/>
          <p:cNvGrpSpPr/>
          <p:nvPr/>
        </p:nvGrpSpPr>
        <p:grpSpPr>
          <a:xfrm>
            <a:off x="4886175" y="152400"/>
            <a:ext cx="1945300" cy="2151700"/>
            <a:chOff x="4886175" y="152400"/>
            <a:chExt cx="1945300" cy="2151700"/>
          </a:xfrm>
        </p:grpSpPr>
        <p:pic>
          <p:nvPicPr>
            <p:cNvPr id="85" name="Google Shape;85;p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886175" y="152400"/>
              <a:ext cx="1945300" cy="20730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" name="Google Shape;86;p15"/>
            <p:cNvSpPr txBox="1"/>
            <p:nvPr/>
          </p:nvSpPr>
          <p:spPr>
            <a:xfrm>
              <a:off x="5038925" y="1991800"/>
              <a:ext cx="1639800" cy="31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800">
                  <a:solidFill>
                    <a:schemeClr val="dk2"/>
                  </a:solidFill>
                  <a:latin typeface="Ubuntu"/>
                  <a:ea typeface="Ubuntu"/>
                  <a:cs typeface="Ubuntu"/>
                  <a:sym typeface="Ubuntu"/>
                </a:rPr>
                <a:t>Fig 16: :</a:t>
              </a:r>
              <a:r>
                <a:rPr lang="es-419" sz="800">
                  <a:solidFill>
                    <a:schemeClr val="dk2"/>
                  </a:solidFill>
                  <a:latin typeface="Ubuntu"/>
                  <a:ea typeface="Ubuntu"/>
                  <a:cs typeface="Ubuntu"/>
                  <a:sym typeface="Ubuntu"/>
                </a:rPr>
                <a:t> Y Subsets Train &amp; Test</a:t>
              </a:r>
              <a:endParaRPr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endParaRPr>
            </a:p>
          </p:txBody>
        </p:sp>
      </p:grpSp>
      <p:sp>
        <p:nvSpPr>
          <p:cNvPr id="87" name="Google Shape;87;p15"/>
          <p:cNvSpPr txBox="1"/>
          <p:nvPr/>
        </p:nvSpPr>
        <p:spPr>
          <a:xfrm>
            <a:off x="536625" y="4042525"/>
            <a:ext cx="14895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Fig. 18:</a:t>
            </a:r>
            <a:r>
              <a:rPr lang="es-419"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 Matriz de Confusión</a:t>
            </a:r>
            <a:endParaRPr sz="8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513675" y="1642550"/>
            <a:ext cx="15354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Fig 17:</a:t>
            </a:r>
            <a:r>
              <a:rPr lang="es-419"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 Métricas KNN Model</a:t>
            </a:r>
            <a:endParaRPr sz="8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89" name="Google Shape;89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5101" y="91275"/>
            <a:ext cx="2212550" cy="161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5100" y="1954850"/>
            <a:ext cx="2212551" cy="214319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5"/>
          <p:cNvSpPr txBox="1"/>
          <p:nvPr/>
        </p:nvSpPr>
        <p:spPr>
          <a:xfrm>
            <a:off x="2847875" y="3943625"/>
            <a:ext cx="21075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7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Fig 21:</a:t>
            </a:r>
            <a:r>
              <a:rPr lang="es-419" sz="7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 Métricas KNN Model k = 3 atributos = 10</a:t>
            </a:r>
            <a:endParaRPr sz="7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92" name="Google Shape;92;p15"/>
          <p:cNvSpPr txBox="1"/>
          <p:nvPr/>
        </p:nvSpPr>
        <p:spPr>
          <a:xfrm>
            <a:off x="5792488" y="4021850"/>
            <a:ext cx="17769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7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Fig 22:</a:t>
            </a:r>
            <a:r>
              <a:rPr lang="es-419" sz="7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 KNN Model k = 3 atributos = 10</a:t>
            </a:r>
            <a:endParaRPr sz="7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93" name="Google Shape;93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02550" y="2375350"/>
            <a:ext cx="2398143" cy="1667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677087" y="2375350"/>
            <a:ext cx="2007725" cy="17470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16"/>
          <p:cNvGrpSpPr/>
          <p:nvPr/>
        </p:nvGrpSpPr>
        <p:grpSpPr>
          <a:xfrm>
            <a:off x="1295400" y="152400"/>
            <a:ext cx="3674650" cy="3454975"/>
            <a:chOff x="152400" y="152400"/>
            <a:chExt cx="3674650" cy="3454975"/>
          </a:xfrm>
        </p:grpSpPr>
        <p:pic>
          <p:nvPicPr>
            <p:cNvPr id="100" name="Google Shape;100;p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2400" y="152400"/>
              <a:ext cx="3674650" cy="3263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" name="Google Shape;101;p16"/>
            <p:cNvSpPr txBox="1"/>
            <p:nvPr/>
          </p:nvSpPr>
          <p:spPr>
            <a:xfrm>
              <a:off x="983375" y="3295075"/>
              <a:ext cx="2012700" cy="31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800">
                  <a:solidFill>
                    <a:schemeClr val="dk2"/>
                  </a:solidFill>
                  <a:latin typeface="Ubuntu"/>
                  <a:ea typeface="Ubuntu"/>
                  <a:cs typeface="Ubuntu"/>
                  <a:sym typeface="Ubuntu"/>
                </a:rPr>
                <a:t>Fig. 23:</a:t>
              </a:r>
              <a:r>
                <a:rPr lang="es-419" sz="800">
                  <a:solidFill>
                    <a:schemeClr val="dk2"/>
                  </a:solidFill>
                  <a:latin typeface="Ubuntu"/>
                  <a:ea typeface="Ubuntu"/>
                  <a:cs typeface="Ubuntu"/>
                  <a:sym typeface="Ubuntu"/>
                </a:rPr>
                <a:t> Matriz de Confusión 3 atributos</a:t>
              </a:r>
              <a:endParaRPr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endParaRPr>
            </a:p>
          </p:txBody>
        </p:sp>
      </p:grpSp>
      <p:pic>
        <p:nvPicPr>
          <p:cNvPr id="102" name="Google Shape;10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0050" y="262925"/>
            <a:ext cx="3533000" cy="3137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6"/>
          <p:cNvSpPr txBox="1"/>
          <p:nvPr/>
        </p:nvSpPr>
        <p:spPr>
          <a:xfrm>
            <a:off x="5685200" y="3204325"/>
            <a:ext cx="21027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Fig. 24:</a:t>
            </a:r>
            <a:r>
              <a:rPr lang="es-419"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 Matriz de Confusión 10 atributos</a:t>
            </a:r>
            <a:endParaRPr sz="8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17"/>
          <p:cNvGrpSpPr/>
          <p:nvPr/>
        </p:nvGrpSpPr>
        <p:grpSpPr>
          <a:xfrm>
            <a:off x="3098800" y="152400"/>
            <a:ext cx="2433700" cy="2311375"/>
            <a:chOff x="3098800" y="152400"/>
            <a:chExt cx="2433700" cy="2311375"/>
          </a:xfrm>
        </p:grpSpPr>
        <p:pic>
          <p:nvPicPr>
            <p:cNvPr id="109" name="Google Shape;109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98800" y="152400"/>
              <a:ext cx="2433700" cy="21177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" name="Google Shape;110;p17"/>
            <p:cNvSpPr txBox="1"/>
            <p:nvPr/>
          </p:nvSpPr>
          <p:spPr>
            <a:xfrm>
              <a:off x="3098800" y="2096275"/>
              <a:ext cx="2181300" cy="36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800">
                  <a:solidFill>
                    <a:schemeClr val="dk2"/>
                  </a:solidFill>
                  <a:latin typeface="Ubuntu"/>
                  <a:ea typeface="Ubuntu"/>
                  <a:cs typeface="Ubuntu"/>
                  <a:sym typeface="Ubuntu"/>
                </a:rPr>
                <a:t>Fig. 15:</a:t>
              </a:r>
              <a:r>
                <a:rPr lang="es-419" sz="800">
                  <a:solidFill>
                    <a:schemeClr val="dk2"/>
                  </a:solidFill>
                  <a:latin typeface="Ubuntu"/>
                  <a:ea typeface="Ubuntu"/>
                  <a:cs typeface="Ubuntu"/>
                  <a:sym typeface="Ubuntu"/>
                </a:rPr>
                <a:t> Matriz de confusión 3 atributos</a:t>
              </a:r>
              <a:endParaRPr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endParaRPr>
            </a:p>
          </p:txBody>
        </p:sp>
      </p:grpSp>
      <p:grpSp>
        <p:nvGrpSpPr>
          <p:cNvPr id="111" name="Google Shape;111;p17"/>
          <p:cNvGrpSpPr/>
          <p:nvPr/>
        </p:nvGrpSpPr>
        <p:grpSpPr>
          <a:xfrm>
            <a:off x="5637275" y="152400"/>
            <a:ext cx="2286000" cy="2225650"/>
            <a:chOff x="5637275" y="152400"/>
            <a:chExt cx="2286000" cy="2225650"/>
          </a:xfrm>
        </p:grpSpPr>
        <p:pic>
          <p:nvPicPr>
            <p:cNvPr id="112" name="Google Shape;112;p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637275" y="152400"/>
              <a:ext cx="2286000" cy="19892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" name="Google Shape;113;p17"/>
            <p:cNvSpPr txBox="1"/>
            <p:nvPr/>
          </p:nvSpPr>
          <p:spPr>
            <a:xfrm>
              <a:off x="5689625" y="2010550"/>
              <a:ext cx="2181300" cy="36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800">
                  <a:solidFill>
                    <a:schemeClr val="dk2"/>
                  </a:solidFill>
                  <a:latin typeface="Ubuntu"/>
                  <a:ea typeface="Ubuntu"/>
                  <a:cs typeface="Ubuntu"/>
                  <a:sym typeface="Ubuntu"/>
                </a:rPr>
                <a:t>Fig. 16:</a:t>
              </a:r>
              <a:r>
                <a:rPr lang="es-419" sz="800">
                  <a:solidFill>
                    <a:schemeClr val="dk2"/>
                  </a:solidFill>
                  <a:latin typeface="Ubuntu"/>
                  <a:ea typeface="Ubuntu"/>
                  <a:cs typeface="Ubuntu"/>
                  <a:sym typeface="Ubuntu"/>
                </a:rPr>
                <a:t> Matriz de confusión 10 atributos</a:t>
              </a:r>
              <a:endParaRPr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endParaRPr>
            </a:p>
          </p:txBody>
        </p:sp>
      </p:grpSp>
      <p:sp>
        <p:nvSpPr>
          <p:cNvPr id="114" name="Google Shape;114;p17"/>
          <p:cNvSpPr txBox="1"/>
          <p:nvPr/>
        </p:nvSpPr>
        <p:spPr>
          <a:xfrm>
            <a:off x="2721475" y="4772025"/>
            <a:ext cx="22860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Fig. 26:</a:t>
            </a:r>
            <a:r>
              <a:rPr lang="es-419"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 Accuracy modelo todos los dígitos</a:t>
            </a:r>
            <a:endParaRPr sz="8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115" name="Google Shape;115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25113" y="2419350"/>
            <a:ext cx="2783520" cy="2460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775" y="34900"/>
            <a:ext cx="2546452" cy="222564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7"/>
          <p:cNvSpPr txBox="1"/>
          <p:nvPr/>
        </p:nvSpPr>
        <p:spPr>
          <a:xfrm>
            <a:off x="38700" y="2160175"/>
            <a:ext cx="25806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Fig. 25:</a:t>
            </a:r>
            <a:r>
              <a:rPr lang="es-419"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 Accuracy modelo subconjuntos ceros y unos</a:t>
            </a:r>
            <a:endParaRPr sz="8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118" name="Google Shape;118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46225" y="2287475"/>
            <a:ext cx="3128251" cy="259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7"/>
          <p:cNvSpPr txBox="1"/>
          <p:nvPr/>
        </p:nvSpPr>
        <p:spPr>
          <a:xfrm>
            <a:off x="5994725" y="4267300"/>
            <a:ext cx="15711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Fig. 27:</a:t>
            </a:r>
            <a:r>
              <a:rPr lang="es-419"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 Modelo con 5 K-</a:t>
            </a:r>
            <a:r>
              <a:rPr lang="es-419"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Folds</a:t>
            </a:r>
            <a:endParaRPr sz="8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120" name="Google Shape;120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5775" y="2616175"/>
            <a:ext cx="2530324" cy="2270738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7"/>
          <p:cNvSpPr txBox="1"/>
          <p:nvPr/>
        </p:nvSpPr>
        <p:spPr>
          <a:xfrm>
            <a:off x="490650" y="4743100"/>
            <a:ext cx="16767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Fig. 28:</a:t>
            </a:r>
            <a:r>
              <a:rPr lang="es-419"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 Modelo con 10 K-Folds</a:t>
            </a:r>
            <a:endParaRPr sz="8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0"/>
            <a:ext cx="2919274" cy="241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8"/>
          <p:cNvSpPr txBox="1"/>
          <p:nvPr/>
        </p:nvSpPr>
        <p:spPr>
          <a:xfrm>
            <a:off x="60400" y="4866600"/>
            <a:ext cx="2816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6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Fig. 31:</a:t>
            </a:r>
            <a:r>
              <a:rPr lang="es-419" sz="6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 Modelo Subconjunto Test con 10 K-Folds</a:t>
            </a:r>
            <a:endParaRPr sz="6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128" name="Google Shape;12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788" y="2523700"/>
            <a:ext cx="2695913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59175" y="0"/>
            <a:ext cx="3681899" cy="4484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8"/>
          <p:cNvSpPr txBox="1"/>
          <p:nvPr/>
        </p:nvSpPr>
        <p:spPr>
          <a:xfrm>
            <a:off x="0" y="1892250"/>
            <a:ext cx="2995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6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Fig. 30:</a:t>
            </a:r>
            <a:r>
              <a:rPr lang="es-419" sz="6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 Modelo Subconjunto Test con 5 K-Folds</a:t>
            </a:r>
            <a:endParaRPr sz="6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31" name="Google Shape;131;p18"/>
          <p:cNvSpPr txBox="1"/>
          <p:nvPr/>
        </p:nvSpPr>
        <p:spPr>
          <a:xfrm>
            <a:off x="4939375" y="4361100"/>
            <a:ext cx="2816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6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Fig. 32:</a:t>
            </a:r>
            <a:r>
              <a:rPr lang="es-419" sz="6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 Modelo Subconjunto Test con 10 K-Folds</a:t>
            </a:r>
            <a:endParaRPr sz="6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0"/>
            <a:ext cx="2919274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199" y="2234535"/>
            <a:ext cx="3071675" cy="2756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45225" y="152400"/>
            <a:ext cx="3151401" cy="3838149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9"/>
          <p:cNvSpPr txBox="1"/>
          <p:nvPr/>
        </p:nvSpPr>
        <p:spPr>
          <a:xfrm>
            <a:off x="0" y="1892250"/>
            <a:ext cx="2995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6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Fig. 27:</a:t>
            </a:r>
            <a:r>
              <a:rPr lang="es-419" sz="6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 Modelo Subconjunto Dev con 5 K-Folds</a:t>
            </a:r>
            <a:endParaRPr sz="6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40" name="Google Shape;140;p19"/>
          <p:cNvSpPr txBox="1"/>
          <p:nvPr/>
        </p:nvSpPr>
        <p:spPr>
          <a:xfrm>
            <a:off x="76200" y="4864050"/>
            <a:ext cx="2995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6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Fig. 28:</a:t>
            </a:r>
            <a:r>
              <a:rPr lang="es-419" sz="6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 Modelo Subconjunto Dev con 10 K-Folds</a:t>
            </a:r>
            <a:endParaRPr sz="6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41" name="Google Shape;141;p19"/>
          <p:cNvSpPr txBox="1"/>
          <p:nvPr/>
        </p:nvSpPr>
        <p:spPr>
          <a:xfrm>
            <a:off x="4323163" y="3861875"/>
            <a:ext cx="2995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6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Fig. 29:</a:t>
            </a:r>
            <a:r>
              <a:rPr lang="es-419" sz="6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 Modelo Subconjunto Dev con 15 K-Folds</a:t>
            </a:r>
            <a:endParaRPr sz="6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148901" cy="281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2700" y="152400"/>
            <a:ext cx="4148899" cy="303499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0"/>
          <p:cNvSpPr txBox="1"/>
          <p:nvPr/>
        </p:nvSpPr>
        <p:spPr>
          <a:xfrm>
            <a:off x="5296600" y="3013375"/>
            <a:ext cx="3695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6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Fig. 33:</a:t>
            </a:r>
            <a:r>
              <a:rPr lang="es-419" sz="6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 Modelo Subconjunto de Entrenamiento</a:t>
            </a:r>
            <a:endParaRPr sz="6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49" name="Google Shape;149;p20"/>
          <p:cNvSpPr txBox="1"/>
          <p:nvPr/>
        </p:nvSpPr>
        <p:spPr>
          <a:xfrm>
            <a:off x="569800" y="2776825"/>
            <a:ext cx="3695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6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Fig. 34:</a:t>
            </a:r>
            <a:r>
              <a:rPr lang="es-419" sz="6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 Modelo </a:t>
            </a:r>
            <a:r>
              <a:rPr lang="es-419" sz="6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RandomForest Classifier</a:t>
            </a:r>
            <a:endParaRPr sz="6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425" y="56450"/>
            <a:ext cx="4760801" cy="210417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1"/>
          <p:cNvSpPr txBox="1"/>
          <p:nvPr/>
        </p:nvSpPr>
        <p:spPr>
          <a:xfrm>
            <a:off x="1796625" y="2160625"/>
            <a:ext cx="13464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Fig. 5:</a:t>
            </a:r>
            <a:r>
              <a:rPr lang="es-419"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 Dígitos de 0 a 9</a:t>
            </a:r>
            <a:endParaRPr sz="8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grpSp>
        <p:nvGrpSpPr>
          <p:cNvPr id="156" name="Google Shape;156;p21"/>
          <p:cNvGrpSpPr/>
          <p:nvPr/>
        </p:nvGrpSpPr>
        <p:grpSpPr>
          <a:xfrm>
            <a:off x="89420" y="2416145"/>
            <a:ext cx="3505255" cy="1735410"/>
            <a:chOff x="4626745" y="2983795"/>
            <a:chExt cx="3505255" cy="1735410"/>
          </a:xfrm>
        </p:grpSpPr>
        <p:pic>
          <p:nvPicPr>
            <p:cNvPr id="157" name="Google Shape;157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626750" y="3793425"/>
              <a:ext cx="3505250" cy="9257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" name="Google Shape;158;p2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626745" y="2983795"/>
              <a:ext cx="3505250" cy="86902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9" name="Google Shape;159;p21"/>
          <p:cNvSpPr txBox="1"/>
          <p:nvPr/>
        </p:nvSpPr>
        <p:spPr>
          <a:xfrm>
            <a:off x="1168850" y="3999150"/>
            <a:ext cx="13464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Fig. 6:</a:t>
            </a:r>
            <a:r>
              <a:rPr lang="es-419"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 Dígitos aleatorios</a:t>
            </a:r>
            <a:endParaRPr sz="8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160" name="Google Shape;160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32075" y="2528125"/>
            <a:ext cx="3678987" cy="162342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1"/>
          <p:cNvSpPr txBox="1"/>
          <p:nvPr/>
        </p:nvSpPr>
        <p:spPr>
          <a:xfrm>
            <a:off x="4800063" y="4055325"/>
            <a:ext cx="17430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Fig. 7:</a:t>
            </a:r>
            <a:r>
              <a:rPr lang="es-419"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 Dígitos de datos promedio</a:t>
            </a:r>
            <a:endParaRPr sz="8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2"/>
          <p:cNvSpPr txBox="1"/>
          <p:nvPr/>
        </p:nvSpPr>
        <p:spPr>
          <a:xfrm>
            <a:off x="1487550" y="970750"/>
            <a:ext cx="10863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Fig. 8:</a:t>
            </a:r>
            <a:r>
              <a:rPr lang="es-419"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 Dígitos cero</a:t>
            </a:r>
            <a:endParaRPr sz="8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167" name="Google Shape;16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2800"/>
            <a:ext cx="3756599" cy="84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293925"/>
            <a:ext cx="3828561" cy="8452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2"/>
          <p:cNvSpPr txBox="1"/>
          <p:nvPr/>
        </p:nvSpPr>
        <p:spPr>
          <a:xfrm>
            <a:off x="1523525" y="2062950"/>
            <a:ext cx="10863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Fig. 9:</a:t>
            </a:r>
            <a:r>
              <a:rPr lang="es-419"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 Dígitos uno</a:t>
            </a:r>
            <a:endParaRPr sz="8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170" name="Google Shape;170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415050"/>
            <a:ext cx="3828551" cy="867469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2"/>
          <p:cNvSpPr txBox="1"/>
          <p:nvPr/>
        </p:nvSpPr>
        <p:spPr>
          <a:xfrm>
            <a:off x="1481375" y="3206325"/>
            <a:ext cx="11706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Fig. 10:</a:t>
            </a:r>
            <a:r>
              <a:rPr lang="es-419"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 Dígitos cinco</a:t>
            </a:r>
            <a:endParaRPr sz="8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172" name="Google Shape;172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399" y="3475374"/>
            <a:ext cx="3828551" cy="87259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2"/>
          <p:cNvSpPr txBox="1"/>
          <p:nvPr/>
        </p:nvSpPr>
        <p:spPr>
          <a:xfrm>
            <a:off x="1445400" y="4263100"/>
            <a:ext cx="11706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Fig. 11:</a:t>
            </a:r>
            <a:r>
              <a:rPr lang="es-419"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 Dígitos siete</a:t>
            </a:r>
            <a:endParaRPr sz="8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174" name="Google Shape;174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71994" y="196437"/>
            <a:ext cx="3550356" cy="79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2"/>
          <p:cNvSpPr txBox="1"/>
          <p:nvPr/>
        </p:nvSpPr>
        <p:spPr>
          <a:xfrm>
            <a:off x="5761875" y="970750"/>
            <a:ext cx="11706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Fig. 12:</a:t>
            </a:r>
            <a:r>
              <a:rPr lang="es-419" sz="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 Dígitos ocho</a:t>
            </a:r>
            <a:endParaRPr sz="8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